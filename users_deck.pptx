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80160" y="1554480"/>
            <a:ext cx="9601200" cy="3840480"/>
          </a:xfrm>
          <a:prstGeom prst="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371600" y="1645920"/>
            <a:ext cx="9418320" cy="36576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554480" y="1874519"/>
            <a:ext cx="90525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600" b="1" i="0">
                <a:solidFill>
                  <a:srgbClr val="FFFFFF"/>
                </a:solidFill>
              </a:rPr>
              <a:t>Target Users &amp;
Use Cases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54480" y="3520440"/>
            <a:ext cx="9052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008C8C"/>
                </a:solidFill>
              </a:rPr>
              <a:t>Clinical Co-Pilot  ·  AgentForge  ·  April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4480" y="4023360"/>
            <a:ext cx="9052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556677"/>
                </a:solidFill>
              </a:rPr>
              <a:t>4 use cases  ·  1 target user  ·  explicit refusal boundaries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Target User — Dr. Sarah Chen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58368"/>
            <a:ext cx="11430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8C8C"/>
                </a:solidFill>
              </a:rPr>
              <a:t>Board-certified internist · Primary care · 18–22 patients/day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97280"/>
            <a:ext cx="4114800" cy="539496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234440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Dr. Sarah Chen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91640"/>
            <a:ext cx="3840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8C8C"/>
                </a:solidFill>
              </a:rPr>
              <a:t>Primary Care Physician
Internal Medicine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377440"/>
            <a:ext cx="38404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300" b="1">
                <a:solidFill>
                  <a:srgbClr val="FFFFFF"/>
                </a:solidFill>
              </a:rPr>
              <a:t>•  18–22 patients per day</a:t>
            </a:r>
          </a:p>
          <a:p>
            <a:pPr>
              <a:spcBef>
                <a:spcPts val="500"/>
              </a:spcBef>
            </a:pPr>
            <a:r>
              <a:rPr sz="1300" b="1">
                <a:solidFill>
                  <a:srgbClr val="FFFFFF"/>
                </a:solidFill>
              </a:rPr>
              <a:t>•  15-minute appointment slots</a:t>
            </a:r>
          </a:p>
          <a:p>
            <a:pPr>
              <a:spcBef>
                <a:spcPts val="500"/>
              </a:spcBef>
            </a:pPr>
            <a:r>
              <a:rPr sz="1300" b="1">
                <a:solidFill>
                  <a:srgbClr val="FFFFFF"/>
                </a:solidFill>
              </a:rPr>
              <a:t>•  90 seconds between rooms</a:t>
            </a:r>
          </a:p>
          <a:p>
            <a:pPr>
              <a:spcBef>
                <a:spcPts val="500"/>
              </a:spcBef>
            </a:pPr>
            <a:r>
              <a:rPr sz="1300" b="1">
                <a:solidFill>
                  <a:srgbClr val="FFFFFF"/>
                </a:solidFill>
              </a:rPr>
              <a:t>•  Day: 8:45 AM – 5 PM back-to-back</a:t>
            </a:r>
          </a:p>
          <a:p>
            <a:pPr>
              <a:spcBef>
                <a:spcPts val="500"/>
              </a:spcBef>
            </a:pPr>
            <a:r>
              <a:rPr sz="1300" b="1">
                <a:solidFill>
                  <a:srgbClr val="FFFFFF"/>
                </a:solidFill>
              </a:rPr>
              <a:t>•  30-minute lunch break</a:t>
            </a:r>
          </a:p>
          <a:p>
            <a:pPr>
              <a:spcBef>
                <a:spcPts val="500"/>
              </a:spcBef>
            </a:pPr>
            <a:r>
              <a:rPr sz="1300" b="1">
                <a:solidFill>
                  <a:srgbClr val="FFFFFF"/>
                </a:solidFill>
              </a:rPr>
              <a:t>•  Uses OpenEMR as practice EHR</a:t>
            </a:r>
          </a:p>
        </p:txBody>
      </p:sp>
      <p:sp>
        <p:nvSpPr>
          <p:cNvPr id="9" name="Rectangle 8"/>
          <p:cNvSpPr/>
          <p:nvPr/>
        </p:nvSpPr>
        <p:spPr>
          <a:xfrm>
            <a:off x="4663440" y="1097280"/>
            <a:ext cx="7132320" cy="2514600"/>
          </a:xfrm>
          <a:prstGeom prst="rect">
            <a:avLst/>
          </a:prstGeom>
          <a:solidFill>
            <a:srgbClr val="EAF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54880" y="1188720"/>
            <a:ext cx="6949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7A4A"/>
                </a:solidFill>
              </a:rPr>
              <a:t>What she NEEDS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1572768"/>
            <a:ext cx="694944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300" b="1">
                <a:solidFill>
                  <a:srgbClr val="0D1B2A"/>
                </a:solidFill>
              </a:rPr>
              <a:t>•  Fast, accurate, patient-specific context pulled from the record in front of her</a:t>
            </a:r>
          </a:p>
          <a:p>
            <a:pPr>
              <a:spcBef>
                <a:spcPts val="500"/>
              </a:spcBef>
            </a:pPr>
            <a:r>
              <a:rPr sz="1300" b="1">
                <a:solidFill>
                  <a:srgbClr val="0D1B2A"/>
                </a:solidFill>
              </a:rPr>
              <a:t>•  Information she can absorb in under 30 seconds</a:t>
            </a:r>
          </a:p>
          <a:p>
            <a:pPr>
              <a:spcBef>
                <a:spcPts val="500"/>
              </a:spcBef>
            </a:pPr>
            <a:r>
              <a:rPr sz="1300" b="1">
                <a:solidFill>
                  <a:srgbClr val="0D1B2A"/>
                </a:solidFill>
              </a:rPr>
              <a:t>•  Synthesis — not a raw data dump she has to read herself</a:t>
            </a:r>
          </a:p>
          <a:p>
            <a:pPr>
              <a:spcBef>
                <a:spcPts val="500"/>
              </a:spcBef>
            </a:pPr>
            <a:r>
              <a:rPr sz="1300" b="1">
                <a:solidFill>
                  <a:srgbClr val="0D1B2A"/>
                </a:solidFill>
              </a:rPr>
              <a:t>•  Reliability — she will stop using the tool the first time it makes her look uninformed</a:t>
            </a:r>
          </a:p>
          <a:p>
            <a:pPr>
              <a:spcBef>
                <a:spcPts val="500"/>
              </a:spcBef>
            </a:pPr>
            <a:r>
              <a:rPr sz="1300" b="1">
                <a:solidFill>
                  <a:srgbClr val="0D1B2A"/>
                </a:solidFill>
              </a:rPr>
              <a:t>•  Source attribution — every fact must be traceable to the record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663440" y="3703320"/>
            <a:ext cx="7132320" cy="2514600"/>
          </a:xfrm>
          <a:prstGeom prst="rect">
            <a:avLst/>
          </a:prstGeom>
          <a:solidFill>
            <a:srgbClr val="FF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54880" y="3794760"/>
            <a:ext cx="6949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C2222"/>
                </a:solidFill>
              </a:rPr>
              <a:t>What she does NOT need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4178808"/>
            <a:ext cx="694944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300" b="1">
                <a:solidFill>
                  <a:srgbClr val="0D1B2A"/>
                </a:solidFill>
              </a:rPr>
              <a:t>•  Medical literature summaries — she is an expert physician</a:t>
            </a:r>
          </a:p>
          <a:p>
            <a:pPr>
              <a:spcBef>
                <a:spcPts val="500"/>
              </a:spcBef>
            </a:pPr>
            <a:r>
              <a:rPr sz="1300" b="1">
                <a:solidFill>
                  <a:srgbClr val="0D1B2A"/>
                </a:solidFill>
              </a:rPr>
              <a:t>•  ICD code explanations — she knows these</a:t>
            </a:r>
          </a:p>
          <a:p>
            <a:pPr>
              <a:spcBef>
                <a:spcPts val="500"/>
              </a:spcBef>
            </a:pPr>
            <a:r>
              <a:rPr sz="1300" b="1">
                <a:solidFill>
                  <a:srgbClr val="0D1B2A"/>
                </a:solidFill>
              </a:rPr>
              <a:t>•  Help writing notes — out of scope</a:t>
            </a:r>
          </a:p>
          <a:p>
            <a:pPr>
              <a:spcBef>
                <a:spcPts val="500"/>
              </a:spcBef>
            </a:pPr>
            <a:r>
              <a:rPr sz="1300" b="1">
                <a:solidFill>
                  <a:srgbClr val="0D1B2A"/>
                </a:solidFill>
              </a:rPr>
              <a:t>•  Tools that require training or slow her down</a:t>
            </a:r>
          </a:p>
          <a:p>
            <a:pPr>
              <a:spcBef>
                <a:spcPts val="500"/>
              </a:spcBef>
            </a:pPr>
            <a:r>
              <a:rPr sz="1300" b="1">
                <a:solidFill>
                  <a:srgbClr val="0D1B2A"/>
                </a:solidFill>
              </a:rPr>
              <a:t>•  Data she can't trust — she has been burned by tools that hallucinate drug interactions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The 90-Second Window — Why This Constraint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09728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D1B2A"/>
                </a:solidFill>
              </a:rPr>
              <a:t>The entire product is designed around a single time constraint: Dr. Chen has 60–90 seconds between finishing with one patient and knocking on the next room's door.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920240"/>
            <a:ext cx="1828800" cy="502920"/>
          </a:xfrm>
          <a:prstGeom prst="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965960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8:45 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2221992"/>
            <a:ext cx="1737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Day starts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514600"/>
            <a:ext cx="187451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56677"/>
                </a:solidFill>
              </a:rPr>
              <a:t>Quick schedule scan</a:t>
            </a:r>
          </a:p>
        </p:txBody>
      </p:sp>
      <p:sp>
        <p:nvSpPr>
          <p:cNvPr id="9" name="Rectangle 8"/>
          <p:cNvSpPr/>
          <p:nvPr/>
        </p:nvSpPr>
        <p:spPr>
          <a:xfrm>
            <a:off x="2331720" y="1920240"/>
            <a:ext cx="1828800" cy="502920"/>
          </a:xfrm>
          <a:prstGeom prst="rect">
            <a:avLst/>
          </a:prstGeom>
          <a:solidFill>
            <a:srgbClr val="556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377440" y="1965960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9:00 AM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77440" y="2221992"/>
            <a:ext cx="1737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Patient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31720" y="2514600"/>
            <a:ext cx="187451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56677"/>
                </a:solidFill>
              </a:rPr>
              <a:t>15-min appointment slot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97680" y="1920240"/>
            <a:ext cx="1828800" cy="50292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43400" y="1965960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9:15 AM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43400" y="2221992"/>
            <a:ext cx="1737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⟵ 90 sec 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97680" y="2514600"/>
            <a:ext cx="187451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56677"/>
                </a:solidFill>
              </a:rPr>
              <a:t>Mental context switch + Co-Pilot query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63640" y="1920240"/>
            <a:ext cx="1828800" cy="502920"/>
          </a:xfrm>
          <a:prstGeom prst="rect">
            <a:avLst/>
          </a:prstGeom>
          <a:solidFill>
            <a:srgbClr val="556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09360" y="1965960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9:16 AM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2221992"/>
            <a:ext cx="1737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Patient 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63640" y="2514600"/>
            <a:ext cx="187451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56677"/>
                </a:solidFill>
              </a:rPr>
              <a:t>15-min appointment slot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0" y="1920240"/>
            <a:ext cx="1828800" cy="50292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75320" y="1965960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9:31 AM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75320" y="2221992"/>
            <a:ext cx="1737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⟵ 90 sec ⟶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0" y="2514600"/>
            <a:ext cx="187451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56677"/>
                </a:solidFill>
              </a:rPr>
              <a:t>Mental context switch + Co-Pilot query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195560" y="1920240"/>
            <a:ext cx="1828800" cy="502920"/>
          </a:xfrm>
          <a:prstGeom prst="rect">
            <a:avLst/>
          </a:prstGeom>
          <a:solidFill>
            <a:srgbClr val="556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241280" y="1965960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...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241280" y="2221992"/>
            <a:ext cx="1737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Repeat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195560" y="2514600"/>
            <a:ext cx="187451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56677"/>
                </a:solidFill>
              </a:rPr>
              <a:t>18–22 times across the day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" y="3154680"/>
            <a:ext cx="1143000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500" b="1">
                <a:solidFill>
                  <a:srgbClr val="0D1B2A"/>
                </a:solidFill>
              </a:rPr>
              <a:t>•  This is a harder constraint than 'during rounds' or 'whenever I have a minute'</a:t>
            </a:r>
          </a:p>
          <a:p>
            <a:pPr>
              <a:spcBef>
                <a:spcPts val="200"/>
              </a:spcBef>
            </a:pPr>
            <a:r>
              <a:rPr sz="1300" b="0">
                <a:solidFill>
                  <a:srgbClr val="556677"/>
                </a:solidFill>
              </a:rPr>
              <a:t>    ▸  It forces us to optimise for speed and terseness above all else — response must be scannable in 20 seconds</a:t>
            </a:r>
          </a:p>
          <a:p>
            <a:pPr>
              <a:spcBef>
                <a:spcPts val="200"/>
              </a:spcBef>
            </a:pPr>
            <a:r>
              <a:rPr sz="1300" b="0">
                <a:solidFill>
                  <a:srgbClr val="556677"/>
                </a:solidFill>
              </a:rPr>
              <a:t>    ▸  It defines the format: 4–6 bullets, not paragraphs. Synthesis, not data</a:t>
            </a:r>
          </a:p>
          <a:p>
            <a:pPr>
              <a:spcBef>
                <a:spcPts val="500"/>
              </a:spcBef>
            </a:pPr>
            <a:r>
              <a:rPr sz="1500" b="1">
                <a:solidFill>
                  <a:srgbClr val="0D1B2A"/>
                </a:solidFill>
              </a:rPr>
              <a:t>•  Predictable workflow: scheduled appointments with a known patient panel — we can optimise for depth on known patients</a:t>
            </a:r>
          </a:p>
          <a:p>
            <a:pPr>
              <a:spcBef>
                <a:spcPts val="500"/>
              </a:spcBef>
            </a:pPr>
            <a:r>
              <a:rPr sz="1500" b="1">
                <a:solidFill>
                  <a:srgbClr val="0D1B2A"/>
                </a:solidFill>
              </a:rPr>
              <a:t>•  Primary care: chronic condition management, long medication lists — maximises the value of the medication and lab use cases</a:t>
            </a:r>
          </a:p>
          <a:p>
            <a:pPr>
              <a:spcBef>
                <a:spcPts val="500"/>
              </a:spcBef>
            </a:pPr>
            <a:r>
              <a:rPr sz="1500" b="1">
                <a:solidFill>
                  <a:srgbClr val="0D1B2A"/>
                </a:solidFill>
              </a:rPr>
              <a:t>•  High trust bar but achievable: she will use the tool consistently if it is reliable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UC-1: Pre-Room Briefing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58368"/>
            <a:ext cx="11430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8C8C"/>
                </a:solidFill>
              </a:rPr>
              <a:t>Moment: finishes with one patient, walks to the next room's door — 60–90 seconds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43000"/>
            <a:ext cx="822960" cy="457200"/>
          </a:xfrm>
          <a:prstGeom prst="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UC-1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11430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1">
                <a:solidFill>
                  <a:srgbClr val="0D1B2A"/>
                </a:solidFill>
              </a:rPr>
              <a:t>"Brief me on this patient before I walk in."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691640"/>
            <a:ext cx="5577840" cy="2011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783080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8C8C"/>
                </a:solidFill>
              </a:rPr>
              <a:t>What the agent must do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167128"/>
            <a:ext cx="53949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300" b="1">
                <a:solidFill>
                  <a:srgbClr val="0D1B2A"/>
                </a:solidFill>
              </a:rPr>
              <a:t>•  Retrieve: last visit date + reason, active conditions, current medications, flagged alerts, today's appointment reason</a:t>
            </a:r>
          </a:p>
          <a:p>
            <a:pPr>
              <a:spcBef>
                <a:spcPts val="500"/>
              </a:spcBef>
            </a:pPr>
            <a:r>
              <a:rPr sz="1300" b="1">
                <a:solidFill>
                  <a:srgbClr val="0D1B2A"/>
                </a:solidFill>
              </a:rPr>
              <a:t>•  Synthesise: surface what's changed or new since the last visit — not a full chart dump</a:t>
            </a:r>
          </a:p>
          <a:p>
            <a:pPr>
              <a:spcBef>
                <a:spcPts val="500"/>
              </a:spcBef>
            </a:pPr>
            <a:r>
              <a:rPr sz="1300" b="1">
                <a:solidFill>
                  <a:srgbClr val="0D1B2A"/>
                </a:solidFill>
              </a:rPr>
              <a:t>•  Format: 4–6 bullet points, scannable in 20 seconds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35040" y="1691640"/>
            <a:ext cx="5760720" cy="2011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80" y="1783080"/>
            <a:ext cx="5577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8C8C"/>
                </a:solidFill>
              </a:rPr>
              <a:t>Why an agent, not a dashboard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0" y="2167128"/>
            <a:ext cx="55778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300" b="1">
                <a:solidFill>
                  <a:srgbClr val="0D1B2A"/>
                </a:solidFill>
              </a:rPr>
              <a:t>•  A dashboard shows data — the physician still has to mentally synthesise it</a:t>
            </a:r>
          </a:p>
          <a:p>
            <a:pPr>
              <a:spcBef>
                <a:spcPts val="500"/>
              </a:spcBef>
            </a:pPr>
            <a:r>
              <a:rPr sz="1300" b="1">
                <a:solidFill>
                  <a:srgbClr val="0D1B2A"/>
                </a:solidFill>
              </a:rPr>
              <a:t>•  The agent answers: "Since her last visit 6 weeks ago, her HbA1c came back elevated at 7.9, her lisinopril was refilled, and she's coming in today for a cough — likely unrelated to the diabetes. Two overdue items: mammogram and flu shot."</a:t>
            </a:r>
          </a:p>
          <a:p>
            <a:pPr>
              <a:spcBef>
                <a:spcPts val="500"/>
              </a:spcBef>
            </a:pPr>
            <a:r>
              <a:rPr sz="1300" b="1">
                <a:solidFill>
                  <a:srgbClr val="0D1B2A"/>
                </a:solidFill>
              </a:rPr>
              <a:t>•  That is a different cognitive load than a screen of tabbed data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3794760"/>
            <a:ext cx="11430000" cy="1554480"/>
          </a:xfrm>
          <a:prstGeom prst="rect">
            <a:avLst/>
          </a:prstGeom>
          <a:solidFill>
            <a:srgbClr val="FFF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3886200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A623"/>
                </a:solidFill>
              </a:rPr>
              <a:t>Source attribution requirement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270248"/>
            <a:ext cx="11247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300" b="1">
                <a:solidFill>
                  <a:srgbClr val="0D1B2A"/>
                </a:solidFill>
              </a:rPr>
              <a:t>•  Every fact (HbA1c value, medication name, appointment reason) must cite the source FHIR resource</a:t>
            </a:r>
          </a:p>
          <a:p>
            <a:pPr>
              <a:spcBef>
                <a:spcPts val="500"/>
              </a:spcBef>
            </a:pPr>
            <a:r>
              <a:rPr sz="1300" b="1">
                <a:solidFill>
                  <a:srgbClr val="0D1B2A"/>
                </a:solidFill>
              </a:rPr>
              <a:t>•  "Likely unrelated" must be flagged as agent inference — not source data</a:t>
            </a:r>
          </a:p>
          <a:p>
            <a:pPr>
              <a:spcBef>
                <a:spcPts val="500"/>
              </a:spcBef>
            </a:pPr>
            <a:r>
              <a:rPr sz="1300" b="1">
                <a:solidFill>
                  <a:srgbClr val="0D1B2A"/>
                </a:solidFill>
              </a:rPr>
              <a:t>•  The physician must be able to verify every claim without opening the full chart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544068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6677"/>
                </a:solidFill>
              </a:rPr>
              <a:t>FHIR resources used: Patient · Encounter · Condition · MedicationRequest · Observation · AllergyIntolerance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UC-2: Medication Safety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58368"/>
            <a:ext cx="11430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8C8C"/>
                </a:solidFill>
              </a:rPr>
              <a:t>Moment: during the visit — physician wants to prescribe a new medication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43000"/>
            <a:ext cx="822960" cy="457200"/>
          </a:xfrm>
          <a:prstGeom prst="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UC-2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11430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1">
                <a:solidFill>
                  <a:srgbClr val="0D1B2A"/>
                </a:solidFill>
              </a:rPr>
              <a:t>"What's she currently on? Any interactions I should know about before I add metformin?"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691640"/>
            <a:ext cx="5577840" cy="2011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783080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8C8C"/>
                </a:solidFill>
              </a:rPr>
              <a:t>What the agent must do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167128"/>
            <a:ext cx="53949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300" b="1">
                <a:solidFill>
                  <a:srgbClr val="0D1B2A"/>
                </a:solidFill>
              </a:rPr>
              <a:t>•  Retrieve: active prescriptions via FHIR MedicationRequest endpoint</a:t>
            </a:r>
          </a:p>
          <a:p>
            <a:pPr>
              <a:spcBef>
                <a:spcPts val="500"/>
              </a:spcBef>
            </a:pPr>
            <a:r>
              <a:rPr sz="1300" b="1">
                <a:solidFill>
                  <a:srgbClr val="0D1B2A"/>
                </a:solidFill>
              </a:rPr>
              <a:t>•  Check: flag known interaction risks against the current medication list</a:t>
            </a:r>
          </a:p>
          <a:p>
            <a:pPr>
              <a:spcBef>
                <a:spcPts val="500"/>
              </a:spcBef>
            </a:pPr>
            <a:r>
              <a:rPr sz="1300" b="1">
                <a:solidFill>
                  <a:srgbClr val="0D1B2A"/>
                </a:solidFill>
              </a:rPr>
              <a:t>•  Hedge appropriately: if interaction data is limited, say so explicitly — do not confidently clear the medication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35040" y="1691640"/>
            <a:ext cx="5760720" cy="2011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80" y="1783080"/>
            <a:ext cx="5577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8C8C"/>
                </a:solidFill>
              </a:rPr>
              <a:t>Why an agent, not a dashboard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0" y="2167128"/>
            <a:ext cx="55778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300" b="1">
                <a:solidFill>
                  <a:srgbClr val="0D1B2A"/>
                </a:solidFill>
              </a:rPr>
              <a:t>•  Dr. Chen can see the medication list in the chart</a:t>
            </a:r>
          </a:p>
          <a:p>
            <a:pPr>
              <a:spcBef>
                <a:spcPts val="500"/>
              </a:spcBef>
            </a:pPr>
            <a:r>
              <a:rPr sz="1300" b="1">
                <a:solidFill>
                  <a:srgbClr val="0D1B2A"/>
                </a:solidFill>
              </a:rPr>
              <a:t>•  What she cannot do in 90 seconds is mentally cross-reference a new drug against 7 active medications</a:t>
            </a:r>
          </a:p>
          <a:p>
            <a:pPr>
              <a:spcBef>
                <a:spcPts val="500"/>
              </a:spcBef>
            </a:pPr>
            <a:r>
              <a:rPr sz="1300" b="1">
                <a:solidFill>
                  <a:srgbClr val="0D1B2A"/>
                </a:solidFill>
              </a:rPr>
              <a:t>•  She wants to ask in natural language and get a targeted response for the specific drug she is considering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3794760"/>
            <a:ext cx="11430000" cy="1691640"/>
          </a:xfrm>
          <a:prstGeom prst="rect">
            <a:avLst/>
          </a:prstGeom>
          <a:solidFill>
            <a:srgbClr val="FF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3886200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C2222"/>
                </a:solidFill>
              </a:rPr>
              <a:t>Critical boundary — the agent must not make prescribing decisions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270248"/>
            <a:ext cx="1124712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300" b="1">
                <a:solidFill>
                  <a:srgbClr val="0D1B2A"/>
                </a:solidFill>
              </a:rPr>
              <a:t>•  It surfaces information: "lisinopril + NSAIDs has a known interaction risk"</a:t>
            </a:r>
          </a:p>
          <a:p>
            <a:pPr>
              <a:spcBef>
                <a:spcPts val="500"/>
              </a:spcBef>
            </a:pPr>
            <a:r>
              <a:rPr sz="1300" b="1">
                <a:solidFill>
                  <a:srgbClr val="0D1B2A"/>
                </a:solidFill>
              </a:rPr>
              <a:t>•  It does NOT say: "do not prescribe ibuprofen"</a:t>
            </a:r>
          </a:p>
          <a:p>
            <a:pPr>
              <a:spcBef>
                <a:spcPts val="500"/>
              </a:spcBef>
            </a:pPr>
            <a:r>
              <a:rPr sz="1300" b="1">
                <a:solidFill>
                  <a:srgbClr val="0D1B2A"/>
                </a:solidFill>
              </a:rPr>
              <a:t>•  The physician decides — the agent provides the information to make the decision</a:t>
            </a:r>
          </a:p>
          <a:p>
            <a:pPr>
              <a:spcBef>
                <a:spcPts val="500"/>
              </a:spcBef>
            </a:pPr>
            <a:r>
              <a:rPr sz="1300" b="1">
                <a:solidFill>
                  <a:srgbClr val="0D1B2A"/>
                </a:solidFill>
              </a:rPr>
              <a:t>•  If confidence in interaction data is low: explicitly state uncertainty rather than false confidence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557784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6677"/>
                </a:solidFill>
              </a:rPr>
              <a:t>FHIR resources used: MedicationRequest (active status)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UC-3: Lab Trend Follow-up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58368"/>
            <a:ext cx="11430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8C8C"/>
                </a:solidFill>
              </a:rPr>
              <a:t>Moment: patient's labs came back — is she moving in the right direction?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43000"/>
            <a:ext cx="822960" cy="457200"/>
          </a:xfrm>
          <a:prstGeom prst="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UC-3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11430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1">
                <a:solidFill>
                  <a:srgbClr val="0D1B2A"/>
                </a:solidFill>
              </a:rPr>
              <a:t>"How are her kidney labs trending? Are the creatinine levels getting worse?"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691640"/>
            <a:ext cx="557784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783080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8C8C"/>
                </a:solidFill>
              </a:rPr>
              <a:t>What the agent must do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167128"/>
            <a:ext cx="53949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300" b="1">
                <a:solidFill>
                  <a:srgbClr val="0D1B2A"/>
                </a:solidFill>
              </a:rPr>
              <a:t>•  Retrieve: last 3–5 Observation records for creatinine and BUN via FHIR, filtered to category=laboratory</a:t>
            </a:r>
          </a:p>
          <a:p>
            <a:pPr>
              <a:spcBef>
                <a:spcPts val="500"/>
              </a:spcBef>
            </a:pPr>
            <a:r>
              <a:rPr sz="1300" b="1">
                <a:solidFill>
                  <a:srgbClr val="0D1B2A"/>
                </a:solidFill>
              </a:rPr>
              <a:t>•  Trend: compare values over time and state direction (improving / stable / worsening)</a:t>
            </a:r>
          </a:p>
          <a:p>
            <a:pPr>
              <a:spcBef>
                <a:spcPts val="500"/>
              </a:spcBef>
            </a:pPr>
            <a:r>
              <a:rPr sz="1300" b="1">
                <a:solidFill>
                  <a:srgbClr val="0D1B2A"/>
                </a:solidFill>
              </a:rPr>
              <a:t>•  Include reference ranges: contextualise without requiring Dr. Chen to look them up</a:t>
            </a:r>
          </a:p>
          <a:p>
            <a:pPr>
              <a:spcBef>
                <a:spcPts val="500"/>
              </a:spcBef>
            </a:pPr>
            <a:r>
              <a:rPr sz="1300" b="1">
                <a:solidFill>
                  <a:srgbClr val="0D1B2A"/>
                </a:solidFill>
              </a:rPr>
              <a:t>•  Date every value: never give a number without its collection date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35040" y="1691640"/>
            <a:ext cx="576072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80" y="1783080"/>
            <a:ext cx="5577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8C8C"/>
                </a:solidFill>
              </a:rPr>
              <a:t>Why an agent, not a dashboard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0" y="2167128"/>
            <a:ext cx="55778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300" b="1">
                <a:solidFill>
                  <a:srgbClr val="0D1B2A"/>
                </a:solidFill>
              </a:rPr>
              <a:t>•  The lab results tab in OpenEMR shows individual rows — understanding a trend means clicking multiple rows</a:t>
            </a:r>
          </a:p>
          <a:p>
            <a:pPr>
              <a:spcBef>
                <a:spcPts val="500"/>
              </a:spcBef>
            </a:pPr>
            <a:r>
              <a:rPr sz="1300" b="1">
                <a:solidFill>
                  <a:srgbClr val="0D1B2A"/>
                </a:solidFill>
              </a:rPr>
              <a:t>•  The agent answers directly: "Creatinine was 1.4 on Mar 3, 1.6 on Mar 28, 1.7 on Apr 15 — trending up, above normal range of 0.6–1.2. BUN is stable."</a:t>
            </a:r>
          </a:p>
          <a:p>
            <a:pPr>
              <a:spcBef>
                <a:spcPts val="500"/>
              </a:spcBef>
            </a:pPr>
            <a:r>
              <a:rPr sz="1300" b="1">
                <a:solidFill>
                  <a:srgbClr val="0D1B2A"/>
                </a:solidFill>
              </a:rPr>
              <a:t>•  That is a complete clinical answer in one response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4069080"/>
            <a:ext cx="11430000" cy="1600200"/>
          </a:xfrm>
          <a:prstGeom prst="rect">
            <a:avLst/>
          </a:prstGeom>
          <a:solidFill>
            <a:srgbClr val="FFF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4160520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A623"/>
                </a:solidFill>
              </a:rPr>
              <a:t>Source attribution requirement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544568"/>
            <a:ext cx="112471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300" b="1">
                <a:solidFill>
                  <a:srgbClr val="0D1B2A"/>
                </a:solidFill>
              </a:rPr>
              <a:t>•  Every value must include its collection date and the specific Observation record ID it came from</a:t>
            </a:r>
          </a:p>
          <a:p>
            <a:pPr>
              <a:spcBef>
                <a:spcPts val="500"/>
              </a:spcBef>
            </a:pPr>
            <a:r>
              <a:rPr sz="1300" b="1">
                <a:solidFill>
                  <a:srgbClr val="0D1B2A"/>
                </a:solidFill>
              </a:rPr>
              <a:t>•  The trend direction (improving/worsening) is agent inference — must be labelled as such</a:t>
            </a:r>
          </a:p>
          <a:p>
            <a:pPr>
              <a:spcBef>
                <a:spcPts val="500"/>
              </a:spcBef>
            </a:pPr>
            <a:r>
              <a:rPr sz="1300" b="1">
                <a:solidFill>
                  <a:srgbClr val="0D1B2A"/>
                </a:solidFill>
              </a:rPr>
              <a:t>•  Reference ranges from the Observation resource where available; otherwise state source of the range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576072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6677"/>
                </a:solidFill>
              </a:rPr>
              <a:t>FHIR resources used: Observation (category=laboratory, sorted by date descending, count=5)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UC-4: Visit History Query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58368"/>
            <a:ext cx="11430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8C8C"/>
                </a:solidFill>
              </a:rPr>
              <a:t>Moment: patient presents with a complaint that may have a prior history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43000"/>
            <a:ext cx="822960" cy="457200"/>
          </a:xfrm>
          <a:prstGeom prst="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UC-4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11430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1">
                <a:solidFill>
                  <a:srgbClr val="0D1B2A"/>
                </a:solidFill>
              </a:rPr>
              <a:t>"Has she been in for chest pain before? How many times in the last two years?"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691640"/>
            <a:ext cx="5577840" cy="2011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783080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8C8C"/>
                </a:solidFill>
              </a:rPr>
              <a:t>What the agent must do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167128"/>
            <a:ext cx="53949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300" b="1">
                <a:solidFill>
                  <a:srgbClr val="0D1B2A"/>
                </a:solidFill>
              </a:rPr>
              <a:t>•  Retrieve: encounter records via FHIR Encounter endpoint, sorted by date descending</a:t>
            </a:r>
          </a:p>
          <a:p>
            <a:pPr>
              <a:spcBef>
                <a:spcPts val="500"/>
              </a:spcBef>
            </a:pPr>
            <a:r>
              <a:rPr sz="1300" b="1">
                <a:solidFill>
                  <a:srgbClr val="0D1B2A"/>
                </a:solidFill>
              </a:rPr>
              <a:t>•  Search: look for encounters with chief complaint or SOAP notes mentioning the relevant symptom</a:t>
            </a:r>
          </a:p>
          <a:p>
            <a:pPr>
              <a:spcBef>
                <a:spcPts val="500"/>
              </a:spcBef>
            </a:pPr>
            <a:r>
              <a:rPr sz="1300" b="1">
                <a:solidFill>
                  <a:srgbClr val="0D1B2A"/>
                </a:solidFill>
              </a:rPr>
              <a:t>•  Return: count, dates, and one-line summary of each relevant visit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35040" y="1691640"/>
            <a:ext cx="5760720" cy="2011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80" y="1783080"/>
            <a:ext cx="5577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8C8C"/>
                </a:solidFill>
              </a:rPr>
              <a:t>Why an agent, not a dashboard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0" y="2167128"/>
            <a:ext cx="55778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300" b="1">
                <a:solidFill>
                  <a:srgbClr val="0D1B2A"/>
                </a:solidFill>
              </a:rPr>
              <a:t>•  Encounter history in OpenEMR is a reverse-chronological list — finding all prior chest pain visits means clicking into each note</a:t>
            </a:r>
          </a:p>
          <a:p>
            <a:pPr>
              <a:spcBef>
                <a:spcPts val="500"/>
              </a:spcBef>
            </a:pPr>
            <a:r>
              <a:rPr sz="1300" b="1">
                <a:solidFill>
                  <a:srgbClr val="0D1B2A"/>
                </a:solidFill>
              </a:rPr>
              <a:t>•  The agent answers in one response: count, dates, and a one-line summary per relevant visit</a:t>
            </a:r>
          </a:p>
          <a:p>
            <a:pPr>
              <a:spcBef>
                <a:spcPts val="500"/>
              </a:spcBef>
            </a:pPr>
            <a:r>
              <a:rPr sz="1300" b="1">
                <a:solidFill>
                  <a:srgbClr val="0D1B2A"/>
                </a:solidFill>
              </a:rPr>
              <a:t>•  Natural language query ('chest pain') maps to free-text search across SOAP notes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3794760"/>
            <a:ext cx="11430000" cy="1600200"/>
          </a:xfrm>
          <a:prstGeom prst="rect">
            <a:avLst/>
          </a:prstGeom>
          <a:solidFill>
            <a:srgbClr val="FFF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3886200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A623"/>
                </a:solidFill>
              </a:rPr>
              <a:t>Limitation the agent must surface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270248"/>
            <a:ext cx="112471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300" b="1">
                <a:solidFill>
                  <a:srgbClr val="0D1B2A"/>
                </a:solidFill>
              </a:rPr>
              <a:t>•  SOAP note search is text-matching over free-text fields — the agent must acknowledge incompleteness</a:t>
            </a:r>
          </a:p>
          <a:p>
            <a:pPr>
              <a:spcBef>
                <a:spcPts val="500"/>
              </a:spcBef>
            </a:pPr>
            <a:r>
              <a:rPr sz="1300" b="1">
                <a:solidFill>
                  <a:srgbClr val="0D1B2A"/>
                </a:solidFill>
              </a:rPr>
              <a:t>•  "I found 2 encounters with 'chest pain' in the notes; there may be additional encounters where it was coded differently"</a:t>
            </a:r>
          </a:p>
          <a:p>
            <a:pPr>
              <a:spcBef>
                <a:spcPts val="500"/>
              </a:spcBef>
            </a:pPr>
            <a:r>
              <a:rPr sz="1300" b="1">
                <a:solidFill>
                  <a:srgbClr val="0D1B2A"/>
                </a:solidFill>
              </a:rPr>
              <a:t>•  Honest uncertainty is required — false completeness is worse than stated uncertainty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548640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6677"/>
                </a:solidFill>
              </a:rPr>
              <a:t>FHIR resources used: Encounter (sorted by date descending) + free-text search over SOAP notes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What the Agent Must Refuse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58368"/>
            <a:ext cx="11430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8C8C"/>
                </a:solidFill>
              </a:rPr>
              <a:t>Explicit boundaries — not edge cases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43000"/>
            <a:ext cx="73152" cy="822960"/>
          </a:xfrm>
          <a:prstGeom prst="rect">
            <a:avLst/>
          </a:prstGeom>
          <a:solidFill>
            <a:srgbClr val="CC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143000"/>
            <a:ext cx="11338560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216152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C2222"/>
                </a:solidFill>
              </a:rPr>
              <a:t>Patients outside Dr. Chen's panel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563624"/>
            <a:ext cx="11064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56677"/>
                </a:solidFill>
              </a:rPr>
              <a:t>Queries about patients she is not assigned to or does not have ACL access to → blocked at tool layer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221992"/>
            <a:ext cx="73152" cy="822960"/>
          </a:xfrm>
          <a:prstGeom prst="rect">
            <a:avLst/>
          </a:prstGeom>
          <a:solidFill>
            <a:srgbClr val="CC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2221992"/>
            <a:ext cx="11338560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2295144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C2222"/>
                </a:solidFill>
              </a:rPr>
              <a:t>Any write operation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642616"/>
            <a:ext cx="11064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56677"/>
                </a:solidFill>
              </a:rPr>
              <a:t>The agent is read-only. No record modifications, note creation, or prescription writes — ever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3300984"/>
            <a:ext cx="73152" cy="822960"/>
          </a:xfrm>
          <a:prstGeom prst="rect">
            <a:avLst/>
          </a:prstGeom>
          <a:solidFill>
            <a:srgbClr val="CC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3300984"/>
            <a:ext cx="11338560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3374136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C2222"/>
                </a:solidFill>
              </a:rPr>
              <a:t>Prescribing decisions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3721608"/>
            <a:ext cx="11064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56677"/>
                </a:solidFill>
              </a:rPr>
              <a:t>"Should I prescribe X?" → "I can show what she's currently taking and flag interactions, but the decision is yours"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4379976"/>
            <a:ext cx="73152" cy="822960"/>
          </a:xfrm>
          <a:prstGeom prst="rect">
            <a:avLst/>
          </a:prstGeom>
          <a:solidFill>
            <a:srgbClr val="CC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4379976"/>
            <a:ext cx="11338560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4453128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C2222"/>
                </a:solidFill>
              </a:rPr>
              <a:t>General medical knowledge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4800600"/>
            <a:ext cx="11064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56677"/>
                </a:solidFill>
              </a:rPr>
              <a:t>"What is the treatment for Type 2 diabetes?" → redirect to clinical resources — not grounded in this patient's record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5458968"/>
            <a:ext cx="73152" cy="822960"/>
          </a:xfrm>
          <a:prstGeom prst="rect">
            <a:avLst/>
          </a:prstGeom>
          <a:solidFill>
            <a:srgbClr val="CC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0" y="5458968"/>
            <a:ext cx="11338560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4360" y="5532120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C2222"/>
                </a:solidFill>
              </a:rPr>
              <a:t>Unanswerable from the record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5879592"/>
            <a:ext cx="11064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56677"/>
                </a:solidFill>
              </a:rPr>
              <a:t>"What do you think is causing her fatigue?" → if not diagnosable from the record, say so explicitly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Why This User — Not an ED Resident, Hospitalist, or Nurse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97280"/>
            <a:ext cx="11430000" cy="2331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8C8C"/>
                </a:solidFill>
              </a:rPr>
              <a:t>Why Dr. Chen (PCP), not others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72768"/>
            <a:ext cx="1124712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400" b="1">
                <a:solidFill>
                  <a:srgbClr val="0D1B2A"/>
                </a:solidFill>
              </a:rPr>
              <a:t>•  Defined time constraint: 90 seconds between rooms is harder than 'during rounds' or 'whenever' — forces speed + terseness</a:t>
            </a:r>
          </a:p>
          <a:p>
            <a:pPr>
              <a:spcBef>
                <a:spcPts val="500"/>
              </a:spcBef>
            </a:pPr>
            <a:r>
              <a:rPr sz="1400" b="1">
                <a:solidFill>
                  <a:srgbClr val="0D1B2A"/>
                </a:solidFill>
              </a:rPr>
              <a:t>•  Predictable workflow: scheduled appointments, known patient panel — optimise depth on known patients, not breadth on unknowns</a:t>
            </a:r>
          </a:p>
          <a:p>
            <a:pPr>
              <a:spcBef>
                <a:spcPts val="500"/>
              </a:spcBef>
            </a:pPr>
            <a:r>
              <a:rPr sz="1400" b="1">
                <a:solidFill>
                  <a:srgbClr val="0D1B2A"/>
                </a:solidFill>
              </a:rPr>
              <a:t>•  Medication context: primary care manages chronic conditions and long medication lists — maximises UC-2 and UC-3 value</a:t>
            </a:r>
          </a:p>
          <a:p>
            <a:pPr>
              <a:spcBef>
                <a:spcPts val="500"/>
              </a:spcBef>
            </a:pPr>
            <a:r>
              <a:rPr sz="1400" b="1">
                <a:solidFill>
                  <a:srgbClr val="0D1B2A"/>
                </a:solidFill>
              </a:rPr>
              <a:t>•  Trust bar is high but achievable: she will use the tool consistently if reliable — ED residents operate in too much uncertainty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352044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8C8C"/>
                </a:solidFill>
              </a:rPr>
              <a:t>Future users (out of scope for Week 1)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65760" y="3931920"/>
          <a:ext cx="11430000" cy="1691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15000"/>
                <a:gridCol w="5715000"/>
              </a:tblGrid>
              <a:tr h="422910"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</a:rPr>
                        <a:t>User</a:t>
                      </a:r>
                    </a:p>
                  </a:txBody>
                  <a:tcPr>
                    <a:solidFill>
                      <a:srgbClr val="008C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</a:rPr>
                        <a:t>Why Out of Scope (Week 1)</a:t>
                      </a:r>
                    </a:p>
                  </a:txBody>
                  <a:tcPr>
                    <a:solidFill>
                      <a:srgbClr val="008C8C"/>
                    </a:solidFill>
                  </a:tcPr>
                </a:tc>
              </a:tr>
              <a:tr h="42291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D1B2A"/>
                          </a:solidFill>
                        </a:rPr>
                        <a:t>ED Resident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D1B2A"/>
                          </a:solidFill>
                        </a:rPr>
                        <a:t>High-volume intake of unknown patients — breadth-optimised workflow requires different tool design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42291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D1B2A"/>
                          </a:solidFill>
                        </a:rPr>
                        <a:t>Hospitalist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D1B2A"/>
                          </a:solidFill>
                        </a:rPr>
                        <a:t>Rounding workflow is different; real-time data needs differ from scheduled appointment context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291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D1B2A"/>
                          </a:solidFill>
                        </a:rPr>
                        <a:t>Nurse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D1B2A"/>
                          </a:solidFill>
                        </a:rPr>
                        <a:t>Different permission scope (no prescribing) — valid future user but requires separate use case design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365760" y="5715000"/>
            <a:ext cx="11430000" cy="914400"/>
          </a:xfrm>
          <a:prstGeom prst="rect">
            <a:avLst/>
          </a:prstGeom>
          <a:solidFill>
            <a:srgbClr val="EAF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5806440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7A4A"/>
                </a:solidFill>
              </a:rPr>
              <a:t>Use case to target user traceability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190488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300" b="1">
                <a:solidFill>
                  <a:srgbClr val="0D1B2A"/>
                </a:solidFill>
              </a:rPr>
              <a:t>•  UC-1 Pre-room briefing → 90-second window, predictable daily schedule</a:t>
            </a:r>
          </a:p>
          <a:p>
            <a:pPr>
              <a:spcBef>
                <a:spcPts val="500"/>
              </a:spcBef>
            </a:pPr>
            <a:r>
              <a:rPr sz="1300" b="1">
                <a:solidFill>
                  <a:srgbClr val="0D1B2A"/>
                </a:solidFill>
              </a:rPr>
              <a:t>•  UC-2 Medication safety → chronic condition management, long medication lists</a:t>
            </a:r>
          </a:p>
          <a:p>
            <a:pPr>
              <a:spcBef>
                <a:spcPts val="500"/>
              </a:spcBef>
            </a:pPr>
            <a:r>
              <a:rPr sz="1300" b="1">
                <a:solidFill>
                  <a:srgbClr val="0D1B2A"/>
                </a:solidFill>
              </a:rPr>
              <a:t>•  UC-3 Lab trends → follow-up appointments, ongoing chronic condition monitoring</a:t>
            </a:r>
          </a:p>
          <a:p>
            <a:pPr>
              <a:spcBef>
                <a:spcPts val="500"/>
              </a:spcBef>
            </a:pPr>
            <a:r>
              <a:rPr sz="1300" b="1">
                <a:solidFill>
                  <a:srgbClr val="0D1B2A"/>
                </a:solidFill>
              </a:rPr>
              <a:t>•  UC-4 Visit history → scheduled appointments where prior context shapes today's visit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097280"/>
            <a:ext cx="10332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</a:rPr>
              <a:t>Use Case Summary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920240"/>
            <a:ext cx="3474720" cy="658368"/>
          </a:xfrm>
          <a:prstGeom prst="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029968"/>
            <a:ext cx="3291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UC-1  Pre-room briefing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97680" y="2057400"/>
            <a:ext cx="76809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0F4F8"/>
                </a:solidFill>
              </a:rPr>
              <a:t>4–6 bullets, synthesised changes since last visit, scannable in 20 seconds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816352"/>
            <a:ext cx="3474720" cy="658368"/>
          </a:xfrm>
          <a:prstGeom prst="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926080"/>
            <a:ext cx="3291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UC-2  Medication safety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2953512"/>
            <a:ext cx="76809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0F4F8"/>
                </a:solidFill>
              </a:rPr>
              <a:t>Active medication list + interaction flags for a specific candidate drug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3712464"/>
            <a:ext cx="3474720" cy="658368"/>
          </a:xfrm>
          <a:prstGeom prst="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3822192"/>
            <a:ext cx="3291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UC-3  Lab trend follow-up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0" y="3849624"/>
            <a:ext cx="76809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0F4F8"/>
                </a:solidFill>
              </a:rPr>
              <a:t>Dated values, direction, reference ranges — trend stated as inference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4608576"/>
            <a:ext cx="3474720" cy="658368"/>
          </a:xfrm>
          <a:prstGeom prst="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4718304"/>
            <a:ext cx="3291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UC-4  Visit history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80" y="4745736"/>
            <a:ext cx="76809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0F4F8"/>
                </a:solidFill>
              </a:rPr>
              <a:t>Count + date + one-line summary; acknowledge free-text search limitations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5504688"/>
            <a:ext cx="3474720" cy="658368"/>
          </a:xfrm>
          <a:prstGeom prst="rect">
            <a:avLst/>
          </a:prstGeom>
          <a:solidFill>
            <a:srgbClr val="CC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5614416"/>
            <a:ext cx="3291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Hard boundaries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97680" y="5641848"/>
            <a:ext cx="76809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0F4F8"/>
                </a:solidFill>
              </a:rPr>
              <a:t>Read-only · Patient panel only · No prescribing decisions · Source-attributed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6446520"/>
            <a:ext cx="10332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556677"/>
                </a:solidFill>
              </a:rPr>
              <a:t>github.com/cxk280/agentforge  ·  https://openemr-production-971e.up.railway.app/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